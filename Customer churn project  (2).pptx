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58" r:id="rId3"/>
    <p:sldId id="305" r:id="rId4"/>
    <p:sldId id="306" r:id="rId5"/>
    <p:sldId id="307" r:id="rId6"/>
    <p:sldId id="324" r:id="rId7"/>
    <p:sldId id="329" r:id="rId8"/>
    <p:sldId id="325" r:id="rId9"/>
    <p:sldId id="330" r:id="rId10"/>
    <p:sldId id="326" r:id="rId11"/>
    <p:sldId id="331" r:id="rId12"/>
    <p:sldId id="327" r:id="rId13"/>
    <p:sldId id="332" r:id="rId14"/>
    <p:sldId id="335" r:id="rId15"/>
    <p:sldId id="333" r:id="rId16"/>
    <p:sldId id="323" r:id="rId17"/>
    <p:sldId id="28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48" d="100"/>
          <a:sy n="48" d="100"/>
        </p:scale>
        <p:origin x="62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dvisha kosti" userId="3a5301046d60e933" providerId="LiveId" clId="{82E5FECD-0EFE-4A7B-B99B-B345F88BCA89}"/>
    <pc:docChg chg="custSel addSld delSld modSld">
      <pc:chgData name="udvisha kosti" userId="3a5301046d60e933" providerId="LiveId" clId="{82E5FECD-0EFE-4A7B-B99B-B345F88BCA89}" dt="2026-01-03T04:46:35.896" v="50" actId="47"/>
      <pc:docMkLst>
        <pc:docMk/>
      </pc:docMkLst>
      <pc:sldChg chg="modSp mod">
        <pc:chgData name="udvisha kosti" userId="3a5301046d60e933" providerId="LiveId" clId="{82E5FECD-0EFE-4A7B-B99B-B345F88BCA89}" dt="2026-01-02T23:48:38.825" v="29" actId="20577"/>
        <pc:sldMkLst>
          <pc:docMk/>
          <pc:sldMk cId="3212366056" sldId="257"/>
        </pc:sldMkLst>
        <pc:spChg chg="mod">
          <ac:chgData name="udvisha kosti" userId="3a5301046d60e933" providerId="LiveId" clId="{82E5FECD-0EFE-4A7B-B99B-B345F88BCA89}" dt="2026-01-02T23:48:38.825" v="29" actId="20577"/>
          <ac:spMkLst>
            <pc:docMk/>
            <pc:sldMk cId="3212366056" sldId="257"/>
            <ac:spMk id="2" creationId="{7145EFBB-F8AA-97CC-9093-388CABBBC102}"/>
          </ac:spMkLst>
        </pc:spChg>
      </pc:sldChg>
      <pc:sldChg chg="modSp mod">
        <pc:chgData name="udvisha kosti" userId="3a5301046d60e933" providerId="LiveId" clId="{82E5FECD-0EFE-4A7B-B99B-B345F88BCA89}" dt="2026-01-02T23:49:39.895" v="48" actId="14100"/>
        <pc:sldMkLst>
          <pc:docMk/>
          <pc:sldMk cId="1623884461" sldId="258"/>
        </pc:sldMkLst>
        <pc:spChg chg="mod">
          <ac:chgData name="udvisha kosti" userId="3a5301046d60e933" providerId="LiveId" clId="{82E5FECD-0EFE-4A7B-B99B-B345F88BCA89}" dt="2026-01-02T23:49:39.895" v="48" actId="14100"/>
          <ac:spMkLst>
            <pc:docMk/>
            <pc:sldMk cId="1623884461" sldId="258"/>
            <ac:spMk id="2" creationId="{F2DA44D8-C0E9-BF4C-82A6-D9E0D16992AA}"/>
          </ac:spMkLst>
        </pc:spChg>
      </pc:sldChg>
      <pc:sldChg chg="addSp delSp modSp mod">
        <pc:chgData name="udvisha kosti" userId="3a5301046d60e933" providerId="LiveId" clId="{82E5FECD-0EFE-4A7B-B99B-B345F88BCA89}" dt="2026-01-02T23:33:47.412" v="14" actId="14100"/>
        <pc:sldMkLst>
          <pc:docMk/>
          <pc:sldMk cId="3579876183" sldId="326"/>
        </pc:sldMkLst>
        <pc:picChg chg="del">
          <ac:chgData name="udvisha kosti" userId="3a5301046d60e933" providerId="LiveId" clId="{82E5FECD-0EFE-4A7B-B99B-B345F88BCA89}" dt="2026-01-02T23:12:32.320" v="0" actId="478"/>
          <ac:picMkLst>
            <pc:docMk/>
            <pc:sldMk cId="3579876183" sldId="326"/>
            <ac:picMk id="3" creationId="{B097F7B8-F843-8632-8890-2F3FC14AE2E0}"/>
          </ac:picMkLst>
        </pc:picChg>
        <pc:picChg chg="add del mod">
          <ac:chgData name="udvisha kosti" userId="3a5301046d60e933" providerId="LiveId" clId="{82E5FECD-0EFE-4A7B-B99B-B345F88BCA89}" dt="2026-01-02T23:32:50.162" v="5" actId="478"/>
          <ac:picMkLst>
            <pc:docMk/>
            <pc:sldMk cId="3579876183" sldId="326"/>
            <ac:picMk id="4" creationId="{B66F20E8-1B0D-5FBB-7CE4-ADB25FDCEA59}"/>
          </ac:picMkLst>
        </pc:picChg>
        <pc:picChg chg="add del mod">
          <ac:chgData name="udvisha kosti" userId="3a5301046d60e933" providerId="LiveId" clId="{82E5FECD-0EFE-4A7B-B99B-B345F88BCA89}" dt="2026-01-02T23:33:12.894" v="9" actId="478"/>
          <ac:picMkLst>
            <pc:docMk/>
            <pc:sldMk cId="3579876183" sldId="326"/>
            <ac:picMk id="6" creationId="{687088B4-8FFC-79C4-B193-E30C61A75607}"/>
          </ac:picMkLst>
        </pc:picChg>
        <pc:picChg chg="add mod">
          <ac:chgData name="udvisha kosti" userId="3a5301046d60e933" providerId="LiveId" clId="{82E5FECD-0EFE-4A7B-B99B-B345F88BCA89}" dt="2026-01-02T23:33:47.412" v="14" actId="14100"/>
          <ac:picMkLst>
            <pc:docMk/>
            <pc:sldMk cId="3579876183" sldId="326"/>
            <ac:picMk id="8" creationId="{1A864332-F99A-B762-A810-2B6676330554}"/>
          </ac:picMkLst>
        </pc:picChg>
      </pc:sldChg>
      <pc:sldChg chg="new del">
        <pc:chgData name="udvisha kosti" userId="3a5301046d60e933" providerId="LiveId" clId="{82E5FECD-0EFE-4A7B-B99B-B345F88BCA89}" dt="2026-01-03T04:46:35.896" v="50" actId="47"/>
        <pc:sldMkLst>
          <pc:docMk/>
          <pc:sldMk cId="2242431177" sldId="33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D52EF-E76C-45FE-9B60-B38A16330E43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E79963-C124-4F7F-8429-9DA89DD9F7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205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79963-C124-4F7F-8429-9DA89DD9F71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174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C2E50-71CA-1251-54E3-D14F8DFE1D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82B020-2C18-66C6-A9EE-1B1344A094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3F690-9C46-F65B-AA21-4438B9EDD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98C47-B3FE-4919-87F3-7FA232BFE9EF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CDCD5-6687-3DF4-12B5-B647CE246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E4989-370C-2502-A407-A7F63EBAE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5C50E-E898-4679-A023-1FDBEB9133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979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6622B-6677-1AE7-C3CE-1885D2902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5E9DC-2CE4-B6E2-6301-D75DA5585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8A01C-0E02-6D5B-9BBD-6E6EF0E31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98C47-B3FE-4919-87F3-7FA232BFE9EF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14DF0-E5FC-8A1E-2029-CB48706A2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FAACF-C175-30D2-3622-4EF482FA0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5C50E-E898-4679-A023-1FDBEB91338C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 descr="A logo with a circular design&#10;&#10;AI-generated content may be incorrect.">
            <a:extLst>
              <a:ext uri="{FF2B5EF4-FFF2-40B4-BE49-F238E27FC236}">
                <a16:creationId xmlns:a16="http://schemas.microsoft.com/office/drawing/2014/main" id="{8DF8FB0E-6337-320F-C658-6B6133CB6A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0453" y="6055743"/>
            <a:ext cx="1762695" cy="807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503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984FD-945B-D1D2-BF39-56E7E238F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1C216-8983-C95D-2FA5-58BA1F381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68ED0-ACA2-61A0-9B38-78CCB670F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98C47-B3FE-4919-87F3-7FA232BFE9EF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A9AE5-6F8C-2DA9-4645-96552DC0A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9569A-B0DF-8F34-8A9A-846C54AF1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5C50E-E898-4679-A023-1FDBEB9133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363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75323-83CB-DB9A-DA8A-B4CD62BD9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D26B8-00DD-13DE-BC6F-14AD883FBA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9A07F-7D41-5FE2-96BD-A895823894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886DE-0316-848C-845E-85A5B7E56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98C47-B3FE-4919-87F3-7FA232BFE9EF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6BB64-419B-3D26-6CEB-9EB52D91E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E20EB9-9AF0-6CC9-454E-746833829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5C50E-E898-4679-A023-1FDBEB9133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208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A1D08-5E27-988D-9553-6D0C9C689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6A3BF-4397-9923-5CB5-2459147D1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F0507-D585-2483-8D9C-BDBB85116B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DE7160-1F2C-6C05-304F-D5007983AA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2ABDBB-D2A0-3BFD-4952-90FBFB3E36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A0F9FB-D6D5-9B16-B066-752DD218C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98C47-B3FE-4919-87F3-7FA232BFE9EF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BFC796-1E18-B996-2F27-BFAC44CF9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B22EE1-2F3C-225D-2F9A-B45DBB788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5C50E-E898-4679-A023-1FDBEB9133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116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D0077-ACAA-92DC-E69E-A052ED193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A33729-9506-7AA3-EEF0-A151A91AD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98C47-B3FE-4919-87F3-7FA232BFE9EF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9585B9-6B66-5CDA-3FD7-E2AD3B0E2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7303F2-F5D3-CFEC-82DF-4ECAA08AF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5C50E-E898-4679-A023-1FDBEB9133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8773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21D435-4292-D695-9B68-2F8C6D1D3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98C47-B3FE-4919-87F3-7FA232BFE9EF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9AD738-4A79-0892-C64E-63C173E31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C42E4-2117-886F-5BFF-66069032B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5C50E-E898-4679-A023-1FDBEB9133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34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15DF4-4775-974B-3666-28AAA1569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48CE0-ED24-18FA-6DD8-555713155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7C10A6-5326-844E-4953-05D62139E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401F6-1947-1377-7EC8-96130BCC5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98C47-B3FE-4919-87F3-7FA232BFE9EF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F1563E-E516-A649-CD2F-4DCFD7B89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9AFE2F-C890-43D4-7153-10E6A30CF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5C50E-E898-4679-A023-1FDBEB9133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762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61E51-3295-44CD-00D3-E64E50ED0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BDAEC0-E276-D925-1CBF-F39466F867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A69899-21EB-29C4-F7DD-0420BD4D7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4D2146-3E9B-F95F-626A-864D1179B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98C47-B3FE-4919-87F3-7FA232BFE9EF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67EB8-5768-9169-60A4-139A20CAC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38ABB6-AC9D-A146-1FBD-4D7722AA2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5C50E-E898-4679-A023-1FDBEB9133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224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8DF79-954F-B415-D7E8-DC708E3CD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6DAD10-98F8-483D-0C7A-CDA8911E7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EF18D-4D65-7566-934A-10BA2B07F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98C47-B3FE-4919-87F3-7FA232BFE9EF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620AE-4761-7528-B3A6-BAC4A3673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3FE7A-9FA7-6CF7-5793-E5E58A06C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5C50E-E898-4679-A023-1FDBEB9133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244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AC17DA-EEE8-032A-E112-CD9E6AA69E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FBE415-5ABD-CE8C-0FE9-D867953710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B1DA7-968A-42CB-F2E3-E83889BC1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98C47-B3FE-4919-87F3-7FA232BFE9EF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592E4-BC16-844D-3B85-7CDBA7B6F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EA7A1-2EC4-4A04-671E-DA7205C9B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5C50E-E898-4679-A023-1FDBEB9133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359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876BE6-F426-2F79-7798-5F1EF9577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369AF-2EF7-87D0-8DF6-7DCA0DF4E1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3C1EE-C661-35EF-2259-86D458F48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098C47-B3FE-4919-87F3-7FA232BFE9EF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22AF7-D1AF-791E-11D1-2110D4D8CB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51F07-3D73-1DB4-4024-79AC7F928E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5C50E-E898-4679-A023-1FDBEB9133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686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8" descr="A white background with red and black text">
            <a:extLst>
              <a:ext uri="{FF2B5EF4-FFF2-40B4-BE49-F238E27FC236}">
                <a16:creationId xmlns:a16="http://schemas.microsoft.com/office/drawing/2014/main" id="{BF1D2590-442A-2159-67A8-A28C06FD1E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4"/>
          <a:stretch>
            <a:fillRect/>
          </a:stretch>
        </p:blipFill>
        <p:spPr>
          <a:xfrm>
            <a:off x="21" y="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B0E96-BFD3-9BD1-9B92-393DD2666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6628" y="4032775"/>
            <a:ext cx="4891139" cy="666537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sz="7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Analysis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EE40A0-AD93-B578-28DE-B34195B19FE5}"/>
              </a:ext>
            </a:extLst>
          </p:cNvPr>
          <p:cNvSpPr txBox="1"/>
          <p:nvPr/>
        </p:nvSpPr>
        <p:spPr>
          <a:xfrm>
            <a:off x="4045483" y="2967665"/>
            <a:ext cx="3181064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  Project </a:t>
            </a:r>
          </a:p>
          <a:p>
            <a:r>
              <a:rPr lang="en-US" sz="3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on</a:t>
            </a:r>
            <a:br>
              <a:rPr lang="en-US" dirty="0"/>
            </a:b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CEC3A1-CB36-72A1-D749-3216229ED914}"/>
              </a:ext>
            </a:extLst>
          </p:cNvPr>
          <p:cNvSpPr txBox="1"/>
          <p:nvPr/>
        </p:nvSpPr>
        <p:spPr>
          <a:xfrm>
            <a:off x="7757215" y="4887259"/>
            <a:ext cx="31020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Presented by :</a:t>
            </a:r>
            <a:r>
              <a:rPr lang="en-US" dirty="0"/>
              <a:t> 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Udvisha Kosti</a:t>
            </a: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 no           :  456</a:t>
            </a: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INNOMATICS RESEARCH LABS</a:t>
            </a: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DISUKHNAGAR BRANCH</a:t>
            </a:r>
            <a:endParaRPr lang="en-IN" b="1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145EFBB-F8AA-97CC-9093-388CABBBC102}"/>
              </a:ext>
            </a:extLst>
          </p:cNvPr>
          <p:cNvSpPr txBox="1">
            <a:spLocks/>
          </p:cNvSpPr>
          <p:nvPr/>
        </p:nvSpPr>
        <p:spPr>
          <a:xfrm>
            <a:off x="2331721" y="4397937"/>
            <a:ext cx="8294914" cy="666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Data-Driven Approach to Understanding Customer Behavior &amp; Retention</a:t>
            </a:r>
          </a:p>
          <a:p>
            <a:pPr marL="0" indent="0">
              <a:buNone/>
            </a:pPr>
            <a:endParaRPr lang="en-IN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2366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A44D8-C0E9-BF4C-82A6-D9E0D1699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313" y="365125"/>
            <a:ext cx="10613487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Business Problem :</a:t>
            </a:r>
            <a:br>
              <a:rPr lang="en-US" sz="4000" b="1" dirty="0">
                <a:solidFill>
                  <a:srgbClr val="FF0000"/>
                </a:solidFill>
              </a:rPr>
            </a:br>
            <a:endParaRPr lang="en-IN" sz="4000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5477A7-25B0-B379-47D9-5FEA47691E34}"/>
              </a:ext>
            </a:extLst>
          </p:cNvPr>
          <p:cNvSpPr txBox="1"/>
          <p:nvPr/>
        </p:nvSpPr>
        <p:spPr>
          <a:xfrm>
            <a:off x="740313" y="2693194"/>
            <a:ext cx="29210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Objective: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D17C3C-874B-BA2A-C52B-5E69F3C1BD85}"/>
              </a:ext>
            </a:extLst>
          </p:cNvPr>
          <p:cNvSpPr txBox="1"/>
          <p:nvPr/>
        </p:nvSpPr>
        <p:spPr>
          <a:xfrm>
            <a:off x="838200" y="1181271"/>
            <a:ext cx="103588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Telecom companies face high customer churn, leading to significant revenue loss. company lacks visibility into key churn drivers such as contract type, service usage patterns, customer demographics, and service add-ons, making it difficult to take preventive actions and retain high-value customers.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F049FC-DDFB-CF65-F652-3BDD0A238FCF}"/>
              </a:ext>
            </a:extLst>
          </p:cNvPr>
          <p:cNvSpPr txBox="1"/>
          <p:nvPr/>
        </p:nvSpPr>
        <p:spPr>
          <a:xfrm>
            <a:off x="969035" y="3661105"/>
            <a:ext cx="102970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develop an interactive Power BI analytics solution that: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Identifies customer churn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Analyzes demographic, service-level, and billing-based factors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Measures churn rate, revenue impact, and risk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Highlights high-risk segments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Supports data-driven decisions to reduce churn and improve customer retention</a:t>
            </a:r>
          </a:p>
        </p:txBody>
      </p:sp>
    </p:spTree>
    <p:extLst>
      <p:ext uri="{BB962C8B-B14F-4D97-AF65-F5344CB8AC3E}">
        <p14:creationId xmlns:p14="http://schemas.microsoft.com/office/powerpoint/2010/main" val="1623884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B49FA-0CFD-8B88-D39B-00F30E8BC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4ADD1-E757-89F4-B242-2CB2855DD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945" y="357814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Data set description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2BF69-116B-96E5-465C-7FE427E58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280159"/>
            <a:ext cx="10642600" cy="47207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Data Source:</a:t>
            </a:r>
            <a:r>
              <a:rPr lang="en-IN" sz="2000" dirty="0"/>
              <a:t> Telco Customer Churn Dataset</a:t>
            </a:r>
          </a:p>
          <a:p>
            <a:pPr marL="0" indent="0">
              <a:buNone/>
            </a:pPr>
            <a:br>
              <a:rPr lang="en-IN" sz="2000" dirty="0"/>
            </a:br>
            <a:r>
              <a:rPr lang="en-IN" sz="2000" b="1" dirty="0"/>
              <a:t>Total Columns:</a:t>
            </a:r>
            <a:r>
              <a:rPr lang="en-IN" sz="2000" dirty="0"/>
              <a:t> 22</a:t>
            </a:r>
          </a:p>
          <a:p>
            <a:pPr marL="0" indent="0">
              <a:buNone/>
            </a:pPr>
            <a:br>
              <a:rPr lang="en-IN" sz="2000" dirty="0"/>
            </a:br>
            <a:r>
              <a:rPr lang="en-IN" sz="2000" b="1" dirty="0"/>
              <a:t>Key Data Fields:</a:t>
            </a:r>
            <a:endParaRPr lang="en-IN" sz="2000" dirty="0"/>
          </a:p>
          <a:p>
            <a:r>
              <a:rPr lang="en-IN" sz="2000" b="1" dirty="0"/>
              <a:t>Customer Profile: </a:t>
            </a:r>
            <a:r>
              <a:rPr lang="en-IN" sz="2000" i="1" dirty="0"/>
              <a:t>gender, Senior Citizen, Partner, Dependents</a:t>
            </a:r>
            <a:endParaRPr lang="en-IN" sz="2000" dirty="0"/>
          </a:p>
          <a:p>
            <a:r>
              <a:rPr lang="en-IN" sz="2000" b="1" dirty="0"/>
              <a:t>Services: </a:t>
            </a:r>
            <a:r>
              <a:rPr lang="en-IN" sz="2000" i="1" dirty="0"/>
              <a:t>Phone Service, Internet Service, Streaming TV, Tech Support</a:t>
            </a:r>
            <a:endParaRPr lang="en-IN" sz="2000" dirty="0"/>
          </a:p>
          <a:p>
            <a:r>
              <a:rPr lang="en-IN" sz="2000" b="1" dirty="0"/>
              <a:t>Billing: </a:t>
            </a:r>
            <a:r>
              <a:rPr lang="en-IN" sz="2000" i="1" dirty="0"/>
              <a:t>Monthly Charges, Total Charges, Payment Method, Paperless Billing</a:t>
            </a:r>
            <a:endParaRPr lang="en-IN" sz="2000" dirty="0"/>
          </a:p>
          <a:p>
            <a:r>
              <a:rPr lang="en-IN" sz="2000" b="1" dirty="0"/>
              <a:t>Customer Lifecycle: </a:t>
            </a:r>
            <a:r>
              <a:rPr lang="en-IN" sz="2000" i="1" dirty="0"/>
              <a:t>tenure, Contract</a:t>
            </a:r>
            <a:endParaRPr lang="en-IN" sz="2000" dirty="0"/>
          </a:p>
          <a:p>
            <a:r>
              <a:rPr lang="en-IN" sz="2000" b="1" dirty="0"/>
              <a:t>Target Variable: </a:t>
            </a:r>
            <a:r>
              <a:rPr lang="en-IN" sz="2000" i="1" dirty="0"/>
              <a:t>Churn (Yes/No)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189137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36F1E-DD65-C09A-85F0-F2EDF9B9E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Data Cleaning :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AB1CE-978D-C64E-BE9D-59149C9A5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603557"/>
            <a:ext cx="9149079" cy="3496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Performed in Power Query:</a:t>
            </a:r>
            <a:endParaRPr lang="en-US" sz="2000" dirty="0"/>
          </a:p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Handled data types</a:t>
            </a:r>
          </a:p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Tenure Buckets</a:t>
            </a:r>
          </a:p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Removed nulls</a:t>
            </a:r>
          </a:p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Converted required bool fields to Yes/No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5544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A8CAC-8BA6-3968-0E93-0970D7E4C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030"/>
            <a:ext cx="10515600" cy="4370717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Customers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Churned Customers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Churned Count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Churn Rate %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Monthly Charges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Tenure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Total Charges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CC32186-30A5-0730-63DC-06038D6F3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20" y="658423"/>
            <a:ext cx="10515600" cy="1325563"/>
          </a:xfrm>
        </p:spPr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Measures and DAX  :</a:t>
            </a:r>
            <a:endParaRPr lang="en-IN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76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1ACFEB2-FB13-A3CB-307C-4682EEE15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519" y="418680"/>
            <a:ext cx="10276702" cy="590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071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55AC7-EC01-EAA9-F3C4-19C817A8F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3411"/>
            <a:ext cx="10515600" cy="5193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Key Questions Answered</a:t>
            </a:r>
          </a:p>
          <a:p>
            <a:r>
              <a:rPr lang="en-US" sz="2000" dirty="0"/>
              <a:t>What is the gender distribution?</a:t>
            </a:r>
          </a:p>
          <a:p>
            <a:r>
              <a:rPr lang="en-US" sz="2000" dirty="0"/>
              <a:t>How many senior citizens churned?</a:t>
            </a:r>
          </a:p>
          <a:p>
            <a:r>
              <a:rPr lang="en-US" sz="2000" dirty="0"/>
              <a:t>How are customers segmented by tenure?</a:t>
            </a:r>
          </a:p>
          <a:p>
            <a:r>
              <a:rPr lang="en-US" sz="2000" dirty="0"/>
              <a:t>How does churn vary across tenure buckets?</a:t>
            </a:r>
          </a:p>
          <a:p>
            <a:r>
              <a:rPr lang="en-US" sz="2000" dirty="0"/>
              <a:t>Monthly charges vs tenure by gender</a:t>
            </a:r>
          </a:p>
          <a:p>
            <a:r>
              <a:rPr lang="en-US" sz="2000" dirty="0"/>
              <a:t>Key demographic KPIs with slicers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Key Insights</a:t>
            </a:r>
          </a:p>
          <a:p>
            <a:r>
              <a:rPr lang="en-US" sz="2000" dirty="0"/>
              <a:t>Female and male customers are nearly equal.</a:t>
            </a:r>
          </a:p>
          <a:p>
            <a:r>
              <a:rPr lang="en-US" sz="2000" dirty="0"/>
              <a:t>Senior Citizens have significantly higher churn.</a:t>
            </a:r>
          </a:p>
          <a:p>
            <a:r>
              <a:rPr lang="en-US" sz="2000" dirty="0"/>
              <a:t>New customers (0–12 months) churn the most.</a:t>
            </a:r>
          </a:p>
          <a:p>
            <a:r>
              <a:rPr lang="en-US" sz="2000" dirty="0"/>
              <a:t>Long-tenure customers show higher monthly charges on average.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3040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9EB74-EBDA-1DE4-EA8D-2387A4600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service&#10;&#10;AI-generated content may be incorrect.">
            <a:extLst>
              <a:ext uri="{FF2B5EF4-FFF2-40B4-BE49-F238E27FC236}">
                <a16:creationId xmlns:a16="http://schemas.microsoft.com/office/drawing/2014/main" id="{60B7AB1B-5DCD-D8F6-A2CC-4D1EE7370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41" y="425365"/>
            <a:ext cx="9675581" cy="566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516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E5102-FD51-067E-FA11-B56B9F917F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62642"/>
            <a:ext cx="11099800" cy="57210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Key Questions Answered</a:t>
            </a:r>
            <a:endParaRPr lang="en-US" sz="2000" dirty="0"/>
          </a:p>
          <a:p>
            <a:r>
              <a:rPr lang="en-US" sz="2000" dirty="0"/>
              <a:t>Distribution of customers across different internet services</a:t>
            </a:r>
          </a:p>
          <a:p>
            <a:r>
              <a:rPr lang="en-US" sz="2000" dirty="0"/>
              <a:t>Customers churned by internet service type?</a:t>
            </a:r>
          </a:p>
          <a:p>
            <a:r>
              <a:rPr lang="en-US" sz="2000" dirty="0"/>
              <a:t>How does churn vary between customers with and without online security? </a:t>
            </a:r>
          </a:p>
          <a:p>
            <a:r>
              <a:rPr lang="en-US" sz="2000" dirty="0"/>
              <a:t>Adoption rate of phone service among customers</a:t>
            </a:r>
          </a:p>
          <a:p>
            <a:r>
              <a:rPr lang="en-US" sz="2000" dirty="0"/>
              <a:t>Usage of  multiple phone lines by Customers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Key Insights</a:t>
            </a:r>
          </a:p>
          <a:p>
            <a:r>
              <a:rPr lang="en-US" sz="2000" dirty="0"/>
              <a:t>Fiber optic is the most widely used internet service among customers.</a:t>
            </a:r>
          </a:p>
          <a:p>
            <a:r>
              <a:rPr lang="en-US" sz="2000" dirty="0"/>
              <a:t>Fiber optic customers exhibit the highest churn compared to DSL and non-internet users.</a:t>
            </a:r>
          </a:p>
          <a:p>
            <a:r>
              <a:rPr lang="en-US" sz="2000" dirty="0"/>
              <a:t>Customers without online security show significantly higher churn rates.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5987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29C00-186E-6FC9-8C97-BBBCB1EBF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A864332-F99A-B762-A810-2B6676330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703" y="409154"/>
            <a:ext cx="10172181" cy="5836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876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8B5E4-FE43-0FC0-A7AC-46B837B2C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4618"/>
            <a:ext cx="10541000" cy="527994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0000"/>
                </a:solidFill>
              </a:rPr>
              <a:t>Key Questions Answered</a:t>
            </a:r>
            <a:endParaRPr lang="en-US" sz="2900" dirty="0"/>
          </a:p>
          <a:p>
            <a:r>
              <a:rPr lang="en-US" sz="2200" dirty="0"/>
              <a:t>What is the distribution of customers across different contract types?</a:t>
            </a:r>
          </a:p>
          <a:p>
            <a:r>
              <a:rPr lang="en-US" sz="2200" dirty="0"/>
              <a:t>How does churn vary by contract type?</a:t>
            </a:r>
          </a:p>
          <a:p>
            <a:r>
              <a:rPr lang="en-US" sz="2200" dirty="0"/>
              <a:t>What are the average monthly charges for each contract type?</a:t>
            </a:r>
          </a:p>
          <a:p>
            <a:r>
              <a:rPr lang="en-US" sz="2200" dirty="0"/>
              <a:t>Which payment methods are most commonly used?</a:t>
            </a:r>
          </a:p>
          <a:p>
            <a:r>
              <a:rPr lang="en-US" sz="2200" dirty="0"/>
              <a:t>How does churn differ across payment methods?</a:t>
            </a:r>
          </a:p>
          <a:p>
            <a:r>
              <a:rPr lang="en-US" sz="2200" dirty="0"/>
              <a:t>Customers distribution by billing type (paperless vs non-paperless)?</a:t>
            </a:r>
          </a:p>
          <a:p>
            <a:pPr marL="0" indent="0">
              <a:buNone/>
            </a:pPr>
            <a:r>
              <a:rPr lang="en-US" sz="2900" b="1" dirty="0">
                <a:solidFill>
                  <a:srgbClr val="FF0000"/>
                </a:solidFill>
              </a:rPr>
              <a:t>Key Insights</a:t>
            </a:r>
          </a:p>
          <a:p>
            <a:r>
              <a:rPr lang="en-US" sz="2200" dirty="0"/>
              <a:t>Month-to-month contracts have the highest number of customers.</a:t>
            </a:r>
          </a:p>
          <a:p>
            <a:r>
              <a:rPr lang="en-US" sz="2200" dirty="0"/>
              <a:t>Month-to-month customers experience significantly higher churn than long-term contracts.</a:t>
            </a:r>
          </a:p>
          <a:p>
            <a:r>
              <a:rPr lang="en-US" sz="2200" dirty="0"/>
              <a:t>One-year and two-year contracts show better customer retention.</a:t>
            </a:r>
          </a:p>
          <a:p>
            <a:r>
              <a:rPr lang="en-US" sz="2200" dirty="0"/>
              <a:t>Electronic check payment method shows the highest churn rate.</a:t>
            </a:r>
          </a:p>
          <a:p>
            <a:r>
              <a:rPr lang="en-US" sz="2200" dirty="0"/>
              <a:t>Long-term contracts contribute to more stable revenue and lower churn.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523910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C8EE6-1794-7522-CD41-572DCF235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64FC90-A0F9-DA41-CD3F-B742A49E0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061" y="472079"/>
            <a:ext cx="9953638" cy="5710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392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59200-647B-AB67-70D4-11C60F5F5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1576"/>
            <a:ext cx="10093960" cy="5908903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8000" b="1" dirty="0">
                <a:solidFill>
                  <a:srgbClr val="FF0000"/>
                </a:solidFill>
              </a:rPr>
              <a:t>Key Questions Answered</a:t>
            </a:r>
            <a:endParaRPr lang="en-US" sz="8000" dirty="0"/>
          </a:p>
          <a:p>
            <a:r>
              <a:rPr lang="en-US" sz="6200" dirty="0"/>
              <a:t>Which customer segments are at the highest risk of churn?</a:t>
            </a:r>
          </a:p>
          <a:p>
            <a:r>
              <a:rPr lang="en-US" sz="6200" dirty="0"/>
              <a:t>How does churn vary across tenure groups?</a:t>
            </a:r>
          </a:p>
          <a:p>
            <a:r>
              <a:rPr lang="en-US" sz="6200" dirty="0"/>
              <a:t>What is the impact of contract type on churn risk?</a:t>
            </a:r>
          </a:p>
          <a:p>
            <a:r>
              <a:rPr lang="en-US" sz="6200" dirty="0"/>
              <a:t>How do payment methods influence churn behavior?</a:t>
            </a:r>
          </a:p>
          <a:p>
            <a:r>
              <a:rPr lang="en-US" sz="6200" dirty="0"/>
              <a:t>Do add-on services reduce churn?</a:t>
            </a:r>
          </a:p>
          <a:p>
            <a:r>
              <a:rPr lang="en-US" sz="6200" dirty="0"/>
              <a:t>Which combinations of tenure and contract create the highest churn risk?</a:t>
            </a:r>
          </a:p>
          <a:p>
            <a:pPr marL="0" indent="0">
              <a:buNone/>
            </a:pPr>
            <a:r>
              <a:rPr lang="en-US" sz="8000" b="1" dirty="0">
                <a:solidFill>
                  <a:srgbClr val="FF0000"/>
                </a:solidFill>
              </a:rPr>
              <a:t>Key Insights</a:t>
            </a:r>
          </a:p>
          <a:p>
            <a:r>
              <a:rPr lang="en-US" sz="6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Short-tenure customers (0–12 months) have the highest churn risk.</a:t>
            </a:r>
          </a:p>
          <a:p>
            <a:r>
              <a:rPr lang="en-US" sz="6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Month-to-month contracts are the most churn-prone.</a:t>
            </a:r>
          </a:p>
          <a:p>
            <a:r>
              <a:rPr lang="en-US" sz="6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Electronic check users churn more than other payment types.</a:t>
            </a:r>
          </a:p>
          <a:p>
            <a:r>
              <a:rPr lang="en-US" sz="6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Fiber optic customers show higher churn than DSL or no-internet users.</a:t>
            </a:r>
          </a:p>
          <a:p>
            <a:r>
              <a:rPr lang="en-US" sz="6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Customers without add-on services churn significantly more.</a:t>
            </a:r>
          </a:p>
          <a:p>
            <a:r>
              <a:rPr lang="en-US" sz="6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Long-tenure customers on long-term contracts are the most stable.</a:t>
            </a:r>
          </a:p>
          <a:p>
            <a:pPr marL="0" indent="0">
              <a:buNone/>
            </a:pPr>
            <a:endParaRPr lang="en-US" sz="6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endParaRPr lang="en-US" sz="6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3816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F76CF-7C18-0A08-25A6-A5BBDE273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</a:rPr>
              <a:t>Strategic Insights &amp; Business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5D3DA-8031-1ED2-9A0B-E42649209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Key Insights &amp; Business Impact</a:t>
            </a:r>
          </a:p>
          <a:p>
            <a:pPr marL="0" indent="0">
              <a:buNone/>
            </a:pPr>
            <a:r>
              <a:rPr lang="en-US" sz="2000" b="1" dirty="0"/>
              <a:t>High-Risk Segments</a:t>
            </a:r>
          </a:p>
          <a:p>
            <a:r>
              <a:rPr lang="en-US" sz="2000" dirty="0"/>
              <a:t>Month-to-month contract customers</a:t>
            </a:r>
          </a:p>
          <a:p>
            <a:r>
              <a:rPr lang="en-US" sz="2000" dirty="0"/>
              <a:t>Fiber optic internet users</a:t>
            </a:r>
          </a:p>
          <a:p>
            <a:r>
              <a:rPr lang="en-US" sz="2000" dirty="0"/>
              <a:t>Electronic check payment users</a:t>
            </a:r>
          </a:p>
          <a:p>
            <a:pPr marL="0" indent="0">
              <a:buNone/>
            </a:pPr>
            <a:r>
              <a:rPr lang="en-US" sz="2000" b="1" dirty="0"/>
              <a:t>Customer Behavior Patterns</a:t>
            </a:r>
          </a:p>
          <a:p>
            <a:r>
              <a:rPr lang="en-US" sz="2000" dirty="0"/>
              <a:t>New customers are most vulnerable to churn</a:t>
            </a:r>
          </a:p>
          <a:p>
            <a:r>
              <a:rPr lang="en-US" sz="2000" dirty="0"/>
              <a:t>Higher monthly charges are linked with higher churn</a:t>
            </a:r>
          </a:p>
          <a:p>
            <a:r>
              <a:rPr lang="en-US" sz="2000" dirty="0"/>
              <a:t>Long-tenure customers show stronger retention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1371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CA5F4-A1F4-8527-CFB3-AE4C383A6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411" y="411132"/>
            <a:ext cx="10515600" cy="1325563"/>
          </a:xfrm>
        </p:spPr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Recommendations :</a:t>
            </a:r>
            <a:br>
              <a:rPr lang="en-US" sz="3200" b="1" dirty="0">
                <a:solidFill>
                  <a:srgbClr val="FF0000"/>
                </a:solidFill>
              </a:rPr>
            </a:b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451DF-5200-D91E-E6FA-01C8E01D2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411" y="140580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 </a:t>
            </a:r>
            <a:r>
              <a:rPr lang="en-US" sz="2000" b="1" dirty="0"/>
              <a:t>1. Improve Retention for New Customers</a:t>
            </a:r>
          </a:p>
          <a:p>
            <a:pPr lvl="1"/>
            <a:r>
              <a:rPr lang="en-US" sz="1800" dirty="0"/>
              <a:t>Offer onboarding discounts, better support during initial months.</a:t>
            </a:r>
          </a:p>
          <a:p>
            <a:pPr marL="0" indent="0">
              <a:buNone/>
            </a:pPr>
            <a:r>
              <a:rPr lang="en-US" sz="2000" b="1" dirty="0"/>
              <a:t> 2. Reduce Churn in High-Risk Billing Groups</a:t>
            </a:r>
          </a:p>
          <a:p>
            <a:pPr lvl="1"/>
            <a:r>
              <a:rPr lang="en-US" sz="1800" dirty="0"/>
              <a:t>Encourage transition from Electronic check → AutoPay.</a:t>
            </a:r>
          </a:p>
          <a:p>
            <a:pPr marL="0" indent="0">
              <a:buNone/>
            </a:pPr>
            <a:r>
              <a:rPr lang="en-US" sz="2000" b="1" dirty="0"/>
              <a:t> 3. Targeted Offers for Fiber Optic Users</a:t>
            </a:r>
          </a:p>
          <a:p>
            <a:pPr lvl="1"/>
            <a:r>
              <a:rPr lang="en-US" sz="1800" dirty="0"/>
              <a:t>Provide loyalty discounts, bundled plans.</a:t>
            </a:r>
          </a:p>
          <a:p>
            <a:pPr marL="0" indent="0">
              <a:buNone/>
            </a:pPr>
            <a:r>
              <a:rPr lang="en-US" sz="2000" b="1" dirty="0"/>
              <a:t> 4. Introduce Contract-Length Incentives</a:t>
            </a:r>
          </a:p>
          <a:p>
            <a:pPr lvl="1"/>
            <a:r>
              <a:rPr lang="en-US" sz="1800" dirty="0"/>
              <a:t>Convert month-to-month customers into yearly contracts.</a:t>
            </a:r>
          </a:p>
          <a:p>
            <a:pPr marL="0" indent="0">
              <a:buNone/>
            </a:pPr>
            <a:r>
              <a:rPr lang="en-US" sz="2000" b="1" dirty="0"/>
              <a:t> 5. Prioritize Senior Citizen Customer Support</a:t>
            </a:r>
          </a:p>
          <a:p>
            <a:pPr lvl="1"/>
            <a:r>
              <a:rPr lang="en-US" sz="1800" dirty="0"/>
              <a:t>Dedicated support line, simplified billing, personalized plans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93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69F3D-C479-DE93-4977-A8F02BC11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675" y="836703"/>
            <a:ext cx="10515600" cy="1325563"/>
          </a:xfrm>
        </p:spPr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Conclusion :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CE989-4E01-FC2D-439D-D4F8AF31A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Power BI Customer Churn Analysis reveals clear behavioral, demographic, and billing-related churn drivers.</a:t>
            </a:r>
          </a:p>
          <a:p>
            <a:r>
              <a:rPr lang="en-US" sz="2000" dirty="0"/>
              <a:t>By leveraging these insights, the company can implement strategies that significantly reduce churn, retain high-value customers, and improve long-term revenue.</a:t>
            </a:r>
          </a:p>
          <a:p>
            <a:r>
              <a:rPr lang="en-US" sz="2000" dirty="0"/>
              <a:t>This project demonstrates how </a:t>
            </a:r>
            <a:r>
              <a:rPr lang="en-US" sz="2000" b="1" dirty="0"/>
              <a:t>data-driven decisions can transform customer retention strategy</a:t>
            </a:r>
            <a:r>
              <a:rPr lang="en-US" sz="20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2176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Rectangle 615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21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las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4482</TotalTime>
  <Words>823</Words>
  <Application>Microsoft Office PowerPoint</Application>
  <PresentationFormat>Widescreen</PresentationFormat>
  <Paragraphs>119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Business Problem : </vt:lpstr>
      <vt:lpstr>Data set description</vt:lpstr>
      <vt:lpstr>Data Cleaning :</vt:lpstr>
      <vt:lpstr>Measures and DAX  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Strategic Insights &amp; Business Impact</vt:lpstr>
      <vt:lpstr>Recommendations : </vt:lpstr>
      <vt:lpstr>Conclusion 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Udvisha Kosti</dc:creator>
  <cp:lastModifiedBy>udvisha kosti</cp:lastModifiedBy>
  <cp:revision>31</cp:revision>
  <dcterms:created xsi:type="dcterms:W3CDTF">2025-10-08T17:29:17Z</dcterms:created>
  <dcterms:modified xsi:type="dcterms:W3CDTF">2026-01-03T04:46:45Z</dcterms:modified>
</cp:coreProperties>
</file>